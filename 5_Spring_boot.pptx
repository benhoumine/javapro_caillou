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Raleway"/>
      <p:regular r:id="rId41"/>
      <p:bold r:id="rId42"/>
      <p:italic r:id="rId43"/>
      <p:boldItalic r:id="rId44"/>
    </p:embeddedFont>
    <p:embeddedFont>
      <p:font typeface="Raleway ExtraBold"/>
      <p:bold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Raleway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Raleway-bold.fntdata"/><Relationship Id="rId41" Type="http://schemas.openxmlformats.org/officeDocument/2006/relationships/font" Target="fonts/Raleway-regular.fntdata"/><Relationship Id="rId44" Type="http://schemas.openxmlformats.org/officeDocument/2006/relationships/font" Target="fonts/Raleway-boldItalic.fntdata"/><Relationship Id="rId43" Type="http://schemas.openxmlformats.org/officeDocument/2006/relationships/font" Target="fonts/Raleway-italic.fntdata"/><Relationship Id="rId46" Type="http://schemas.openxmlformats.org/officeDocument/2006/relationships/font" Target="fonts/RalewayExtraBold-boldItalic.fntdata"/><Relationship Id="rId45" Type="http://schemas.openxmlformats.org/officeDocument/2006/relationships/font" Target="fonts/Raleway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aleway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RalewayLight-italic.fntdata"/><Relationship Id="rId52" Type="http://schemas.openxmlformats.org/officeDocument/2006/relationships/font" Target="fonts/RalewayLigh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Raleway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f48605c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f48605c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f48605c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f48605c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f48605ce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f48605ce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ec055457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ec055457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f48605ce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f48605ce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f48605ce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f48605ce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f48605ce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f48605ce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ec05545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ec05545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ec05545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ec05545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ec05545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ec05545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ec055457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ec055457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ec055457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ec055457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f48605ce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f48605ce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ec055457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ec055457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ec055457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ec055457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f70690b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f70690b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f70690bf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f70690bf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f70690bf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f70690bf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04968b26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04968b26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04968b26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04968b26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704968b26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704968b26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04968b26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04968b26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f70690bf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f70690bf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f70690bf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f70690bf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@PropertySource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f70690bf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f70690bf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f70690bf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f70690bf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f70690bf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f70690bf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ee0b0692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ee0b0692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ee0b0692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ee0b0692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4ee0b0692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4ee0b069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ee0b0692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ee0b0692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ee0b0692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4ee0b0692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ee0b0692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ee0b0692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ee0b0692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ee0b0692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4f893dc37a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4f893dc37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solidFill>
          <a:srgbClr val="FFB6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solidFill>
          <a:srgbClr val="FFB6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bg>
      <p:bgPr>
        <a:solidFill>
          <a:srgbClr val="FFB6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 flipH="1"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1pPr>
            <a:lvl2pPr indent="-419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2pPr>
            <a:lvl3pPr indent="-419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3pPr>
            <a:lvl4pPr indent="-419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4pPr>
            <a:lvl5pPr indent="-419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5pPr>
            <a:lvl6pPr indent="-419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6pPr>
            <a:lvl7pPr indent="-419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7pPr>
            <a:lvl8pPr indent="-419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8pPr>
            <a:lvl9pPr indent="-419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fr" sz="12000" u="none" cap="none" strike="noStrik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i="0" sz="12000" u="none" cap="none" strike="noStrike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36025" y="1541700"/>
            <a:ext cx="8030100" cy="30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colored">
  <p:cSld name="BLANK_1">
    <p:bg>
      <p:bgPr>
        <a:solidFill>
          <a:srgbClr val="FFB6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at the </a:t>
            </a:r>
            <a:r>
              <a:rPr lang="fr"/>
              <a:t>beginning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556950" y="1047450"/>
            <a:ext cx="80301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Created in 2003, Open Source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Lightweight container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Spring container manage your application objects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Use Dependency Injection to instantiate and assemble objects</a:t>
            </a:r>
            <a:r>
              <a:rPr lang="fr"/>
              <a:t>	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Provide features for enterprise development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high performing, easily testable and reusable code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Most popular framework in java community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Organized in modules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Framework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28975" y="1063550"/>
            <a:ext cx="35961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More than a lightweight container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Spring Framework consists of features organized into about 20 modules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Modules are grouped into Core Container, Data Access/Integration, Web, AOP, Instrumentation, and Test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6789" l="0" r="0" t="1952"/>
          <a:stretch/>
        </p:blipFill>
        <p:spPr>
          <a:xfrm>
            <a:off x="4000700" y="1057225"/>
            <a:ext cx="5130475" cy="35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15585" l="0" r="0" t="63059"/>
          <a:stretch/>
        </p:blipFill>
        <p:spPr>
          <a:xfrm>
            <a:off x="2006763" y="1123650"/>
            <a:ext cx="5130475" cy="8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Framework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556950" y="1945400"/>
            <a:ext cx="8030100" cy="23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Spring Core, the heart of Spring</a:t>
            </a:r>
            <a:b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</a:b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The Core and Beans modules provide Dependency Injection features</a:t>
            </a:r>
            <a:b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</a:b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The BeanFactory is a sophisticated implementation of the factory pattern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○"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Removes the need for programmatic singletons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Allows to decouple configuration and specification of dependencies from program logic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word on Spring beans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536025" y="1313475"/>
            <a:ext cx="8030100" cy="3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chemeClr val="lt1"/>
                </a:highlight>
              </a:rPr>
              <a:t>A Spring bean is a Java bean managed by Spring container : </a:t>
            </a:r>
            <a:br>
              <a:rPr lang="fr">
                <a:solidFill>
                  <a:srgbClr val="333333"/>
                </a:solidFill>
                <a:highlight>
                  <a:schemeClr val="lt1"/>
                </a:highlight>
              </a:rPr>
            </a:br>
            <a:r>
              <a:rPr lang="fr">
                <a:solidFill>
                  <a:srgbClr val="333333"/>
                </a:solidFill>
                <a:highlight>
                  <a:schemeClr val="lt1"/>
                </a:highlight>
              </a:rPr>
              <a:t>“</a:t>
            </a:r>
            <a:r>
              <a:rPr i="1" lang="fr">
                <a:solidFill>
                  <a:srgbClr val="333333"/>
                </a:solidFill>
                <a:highlight>
                  <a:schemeClr val="lt1"/>
                </a:highlight>
              </a:rPr>
              <a:t>A bean is an object that is instantiated, assembled, and otherwise managed by a Spring IoC container”</a:t>
            </a:r>
            <a:br>
              <a:rPr i="1" lang="fr">
                <a:solidFill>
                  <a:srgbClr val="333333"/>
                </a:solidFill>
                <a:highlight>
                  <a:schemeClr val="lt1"/>
                </a:highlight>
              </a:rPr>
            </a:br>
            <a:endParaRPr i="1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fr">
                <a:solidFill>
                  <a:srgbClr val="333333"/>
                </a:solidFill>
                <a:highlight>
                  <a:schemeClr val="lt1"/>
                </a:highlight>
              </a:rPr>
              <a:t>Beans are configured through XML files or a Java Code </a:t>
            </a:r>
            <a:br>
              <a:rPr lang="fr">
                <a:solidFill>
                  <a:srgbClr val="333333"/>
                </a:solidFill>
                <a:highlight>
                  <a:schemeClr val="lt1"/>
                </a:highlight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This configuration is the definition of the bean, ie metadata used by Spring IoC container to create and manage bean lifecycle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IoC container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536025" y="1160700"/>
            <a:ext cx="8030100" cy="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4302D"/>
                </a:solidFill>
                <a:highlight>
                  <a:srgbClr val="FFFFFF"/>
                </a:highlight>
              </a:rPr>
              <a:t>Spring IoC container and is responsible for instantiating, configuring, and assembling the beans</a:t>
            </a:r>
            <a:endParaRPr i="1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100" y="1976899"/>
            <a:ext cx="6078349" cy="27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900" y="2842236"/>
            <a:ext cx="817425" cy="6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6750" y="3133911"/>
            <a:ext cx="817425" cy="6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4250" y="4003286"/>
            <a:ext cx="817425" cy="6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IoC container : instantiation &amp; use 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844525" y="1179350"/>
            <a:ext cx="6246900" cy="10728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ApplicationContext context =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ClassPathXmlApplicationContext(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"services.xml</a:t>
            </a:r>
            <a:endParaRPr sz="1100">
              <a:solidFill>
                <a:srgbClr val="6A875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// retrieve configured instance</a:t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PetStoreService service = context.getBean(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"petStore"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PetStoreService.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class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// use configured instance</a:t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List&lt;</a:t>
            </a:r>
            <a:r>
              <a:rPr lang="fr" sz="1100">
                <a:solidFill>
                  <a:srgbClr val="507874"/>
                </a:solidFill>
                <a:highlight>
                  <a:srgbClr val="2B2B2B"/>
                </a:highlight>
              </a:rPr>
              <a:t>String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&gt; userList = service.getUsernameList()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844525" y="2427150"/>
            <a:ext cx="6246900" cy="22521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&lt;?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xml version=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"1.0"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encoding=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"UTF-8"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?&gt;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&lt;beans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xmlns=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"http://www.springframework.org/schema/beans"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[...] &gt;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</a:t>
            </a: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&lt;!-- services --&gt;</a:t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  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&lt;bean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"petStore"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"org.springframework.samples.jpetstore.services.PetStoreServiceImpl"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&lt;property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name=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"accountDao"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"accountDao"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&lt;property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name=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"itemDao"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"itemDao"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</a:t>
            </a: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&lt;!-- additional collaborators and configuration for this bean go here --&gt;</a:t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  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&lt;/bean&gt;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Injection : </a:t>
            </a:r>
            <a:r>
              <a:rPr lang="fr"/>
              <a:t>Constructor Based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501425" y="1092775"/>
            <a:ext cx="80301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Spring IoC container allows to inject a dependency through constructor</a:t>
            </a:r>
            <a:b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When no type conflict, Spring know how and what to inject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808700" y="2263150"/>
            <a:ext cx="3849900" cy="19452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&lt;beans&gt;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"beanOne"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"x.y.ThingOne"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"beanTwo"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"beanThree"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&lt;/bean&gt;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"beanTwo"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"x.y.ThingTwo"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"beanThree" </a:t>
            </a:r>
            <a:r>
              <a:rPr lang="fr" sz="11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"x.y.ThingThree"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66925" y="2541325"/>
            <a:ext cx="4291500" cy="13011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ThingOne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ThingOne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(ThingTwo thingTwo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ThingThree thingThree)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// ...</a:t>
            </a:r>
            <a:endParaRPr sz="11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808080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Injection : </a:t>
            </a:r>
            <a:r>
              <a:rPr lang="fr"/>
              <a:t>Constructor Based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518475" y="1742400"/>
            <a:ext cx="3918600" cy="9429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ThingOne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900">
                <a:solidFill>
                  <a:srgbClr val="FFC66D"/>
                </a:solidFill>
                <a:highlight>
                  <a:srgbClr val="2B2B2B"/>
                </a:highlight>
              </a:rPr>
              <a:t>ThingOne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(ThingTwo thingTwo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ThingTwo thingTwoBis)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900">
                <a:solidFill>
                  <a:srgbClr val="808080"/>
                </a:solidFill>
                <a:highlight>
                  <a:srgbClr val="2B2B2B"/>
                </a:highlight>
              </a:rPr>
              <a:t>// ...</a:t>
            </a:r>
            <a:endParaRPr sz="9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808080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556950" y="1001250"/>
            <a:ext cx="80301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When type conflict on constructor (ie multiple argument with the same type), Spring needs more information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96075" y="2762175"/>
            <a:ext cx="31956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With argument index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983900" y="2762175"/>
            <a:ext cx="31956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With argument name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619325" y="3248175"/>
            <a:ext cx="3048300" cy="13476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&lt;beans&gt;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"beanOne"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"x.y.ThingOne"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index=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"0"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index=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"1"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"misterBean"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&lt;/bean&gt;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"beanTwo"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"misterBean"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5052075" y="3240575"/>
            <a:ext cx="3363300" cy="13476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&lt;beans&gt;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"beanOne"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"x.y.ThingOne"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name=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"thingTwo"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name=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"thingTwoBis"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"misterBean"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&lt;/bean&gt;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"beanTwo"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"misterBean" </a:t>
            </a:r>
            <a:r>
              <a:rPr lang="fr" sz="9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900">
                <a:solidFill>
                  <a:srgbClr val="6A8759"/>
                </a:solidFill>
                <a:highlight>
                  <a:srgbClr val="2B2B2B"/>
                </a:highlight>
              </a:rPr>
              <a:t>"x.y.ThingTwo"</a:t>
            </a: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9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Injection : Constructor Based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536025" y="1541700"/>
            <a:ext cx="8030100" cy="30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When injecting a primitive type, Spring needs more information to inject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675800" y="2956000"/>
            <a:ext cx="3791400" cy="11565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&lt;beans&gt;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"beanOne"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"x.y.ThingOne"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type=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"int"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value=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"7500000"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   &lt;constructor-arg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type=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"java.lang.String"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value=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"42"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&lt;/bean&gt;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707600" y="2830450"/>
            <a:ext cx="3279300" cy="14076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package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x.y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ThingOne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ThingOne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int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years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String ultimateAnswer)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808080"/>
                </a:solidFill>
                <a:highlight>
                  <a:srgbClr val="2B2B2B"/>
                </a:highlight>
              </a:rPr>
              <a:t>// ...</a:t>
            </a:r>
            <a:endParaRPr sz="10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808080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Injection : Setter-based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80750" y="1159025"/>
            <a:ext cx="8030100" cy="12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Invoke no args constructor then call setters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Can mix constuctor based and setter based injection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  <a:highlight>
                  <a:srgbClr val="FFFFFF"/>
                </a:highlight>
              </a:rPr>
              <a:t>Use constructor for mandatory dependencies and setters for optional ones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480750" y="2746775"/>
            <a:ext cx="3513900" cy="14043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SimpleMovieLister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MovieFinder 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movieFinder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public void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setMovieFinder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(MovieFinder movieFinder)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this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.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movieFinder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= movieFinder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4253275" y="2746775"/>
            <a:ext cx="4413000" cy="14043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&lt;beans&gt;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"movieLister"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"x.y.SimpleMovieLister"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   &lt;property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name=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"moviefinder"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ref=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"awsMovieFinder"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&lt;/bean&gt;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  &lt;bean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id=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"awsMovieFinder" </a:t>
            </a:r>
            <a:r>
              <a:rPr lang="fr" sz="1000">
                <a:solidFill>
                  <a:srgbClr val="BABABA"/>
                </a:solidFill>
                <a:highlight>
                  <a:srgbClr val="2B2B2B"/>
                </a:highlight>
              </a:rPr>
              <a:t>class=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"x.y.AwesomeMovieFinder"</a:t>
            </a: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/&gt;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8BF6A"/>
                </a:solidFill>
                <a:highlight>
                  <a:srgbClr val="2B2B2B"/>
                </a:highlight>
              </a:rPr>
              <a:t>&lt;/beans&gt;</a:t>
            </a:r>
            <a:endParaRPr sz="10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problem...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975" y="1614750"/>
            <a:ext cx="4381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</a:t>
            </a:r>
            <a:endParaRPr/>
          </a:p>
        </p:txBody>
      </p:sp>
      <p:sp>
        <p:nvSpPr>
          <p:cNvPr id="152" name="Google Shape;152;p25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Why Spring boot ?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556950" y="1161250"/>
            <a:ext cx="8030100" cy="30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Spring is hard to configure and time consuming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 simple Hello Word require XML configuration to works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Lot of XML configuration files to carefully configure your app (DB, Ldap, beans, web, security…)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Spring brings a high level of control on application configuration, but it has a cost on productivity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Solution ? Spring Boot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is </a:t>
            </a:r>
            <a:r>
              <a:rPr lang="fr"/>
              <a:t>Spring boot ?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536025" y="1541700"/>
            <a:ext cx="8030100" cy="30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Simplify, improve, accelerate Spring application creation</a:t>
            </a:r>
            <a:br>
              <a:rPr lang="fr"/>
            </a:br>
            <a:r>
              <a:rPr lang="f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Use convention over configuration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Use default configuration based on the classpath </a:t>
            </a:r>
            <a:br>
              <a:rPr lang="fr"/>
            </a:br>
            <a:r>
              <a:rPr lang="fr"/>
              <a:t>	</a:t>
            </a:r>
            <a:r>
              <a:rPr lang="fr" sz="1400"/>
              <a:t>Oh a mysql dependency ? Maybe you want to connect to a MySQL database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Standalone app with embedded servlet container (Tomcat or Jetty)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>
                <a:solidFill>
                  <a:schemeClr val="dk2"/>
                </a:solidFill>
              </a:rPr>
              <a:t>Starters pom to quickly getting started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537375" y="1017725"/>
            <a:ext cx="80301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200">
                <a:solidFill>
                  <a:srgbClr val="152935"/>
                </a:solidFill>
                <a:highlight>
                  <a:srgbClr val="FFFFFF"/>
                </a:highlight>
              </a:rPr>
              <a:t>Spring Boot makes it easy to create stand-alone, production-grade Spring based Applications that you can “just run.”</a:t>
            </a:r>
            <a:endParaRPr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starters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556950" y="1008675"/>
            <a:ext cx="8030100" cy="3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Starters are a set of dependencies </a:t>
            </a:r>
            <a:br>
              <a:rPr lang="f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They are skeleton of your project which brings all required dependencies with the right version</a:t>
            </a:r>
            <a:br>
              <a:rPr lang="f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You want to build a Spring Boot application ? Use the spring-boot-starter</a:t>
            </a:r>
            <a:br>
              <a:rPr lang="f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A web application ? Use spring-boot-starter-web</a:t>
            </a:r>
            <a:br>
              <a:rPr lang="f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Need some security ? Use spring-boot-starter-security</a:t>
            </a:r>
            <a:br>
              <a:rPr lang="f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" sz="1600"/>
              <a:t>You want a beautiful mustache ? Use spring-boot-starter-mustache</a:t>
            </a:r>
            <a:br>
              <a:rPr lang="fr" sz="1600"/>
            </a:b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 sz="1200"/>
              <a:t>https://docs.spring.io/spring-boot/docs/current/reference/htmlsingle/#using-boot-starter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starters</a:t>
            </a:r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2575425" y="1313475"/>
            <a:ext cx="4169700" cy="32964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&lt;parent&gt;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&lt;groupId&gt;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org.springframework.boot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&lt;/groupId&gt;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&lt;artifactId&gt;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spring-boot-starter-parent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&lt;/artifactId&gt;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&lt;version&gt;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1.5.2.RELEASE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&lt;/version&gt;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&lt;relativePath/&gt;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&lt;/parent&gt;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&lt;groupId&gt;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org.springframework.boot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&lt;/groupId&gt;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&lt;artifactId&gt;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spring-boot-starter-test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&lt;/artifactId&gt;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&lt;scope&gt;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test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&lt;/scope&gt;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&lt;/dependency&gt;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&lt;groupId&gt;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org.springframework.boot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&lt;/groupId&gt;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   &lt;artifactId&gt;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spring-boot-starter-web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&lt;/artifactId&gt;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&lt;/dependency&gt;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&lt;dependencies&gt;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: annotations</a:t>
            </a:r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075" y="1886963"/>
            <a:ext cx="1909575" cy="19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588" y="2296275"/>
            <a:ext cx="1224775" cy="10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4300" y="1886976"/>
            <a:ext cx="1791625" cy="17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: First application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536025" y="2452525"/>
            <a:ext cx="8030100" cy="22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1" lang="fr" sz="1400">
                <a:latin typeface="Raleway"/>
                <a:ea typeface="Raleway"/>
                <a:cs typeface="Raleway"/>
                <a:sym typeface="Raleway"/>
              </a:rPr>
              <a:t>@SpringBootApplication</a:t>
            </a:r>
            <a:r>
              <a:rPr lang="fr" sz="1400"/>
              <a:t> : Convenient annotation</a:t>
            </a:r>
            <a:br>
              <a:rPr lang="fr" sz="1400"/>
            </a:b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fr" sz="1400">
                <a:latin typeface="Raleway"/>
                <a:ea typeface="Raleway"/>
                <a:cs typeface="Raleway"/>
                <a:sym typeface="Raleway"/>
              </a:rPr>
              <a:t>@EnableAutoConfiguration</a:t>
            </a:r>
            <a:r>
              <a:rPr lang="fr" sz="1400"/>
              <a:t> : Ask to Spring Boot to scan dependencies to guess the configuration required by your app</a:t>
            </a:r>
            <a:br>
              <a:rPr lang="fr" sz="1400"/>
            </a:b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fr" sz="1400">
                <a:latin typeface="Raleway"/>
                <a:ea typeface="Raleway"/>
                <a:cs typeface="Raleway"/>
                <a:sym typeface="Raleway"/>
              </a:rPr>
              <a:t>@Configuration</a:t>
            </a:r>
            <a:r>
              <a:rPr lang="fr" sz="1400"/>
              <a:t> : Set class as a configuration class (can declare configuration items)</a:t>
            </a:r>
            <a:br>
              <a:rPr lang="fr" sz="1400"/>
            </a:b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fr" sz="1400">
                <a:latin typeface="Raleway"/>
                <a:ea typeface="Raleway"/>
                <a:cs typeface="Raleway"/>
                <a:sym typeface="Raleway"/>
              </a:rPr>
              <a:t>@</a:t>
            </a:r>
            <a:r>
              <a:rPr b="1" lang="fr" sz="1400">
                <a:latin typeface="Raleway"/>
                <a:ea typeface="Raleway"/>
                <a:cs typeface="Raleway"/>
                <a:sym typeface="Raleway"/>
              </a:rPr>
              <a:t>ComponentScan</a:t>
            </a:r>
            <a:r>
              <a:rPr lang="fr" sz="1400"/>
              <a:t> : Scan sub packages to discover configuration and </a:t>
            </a:r>
            <a:r>
              <a:rPr lang="fr" sz="1400"/>
              <a:t>components</a:t>
            </a:r>
            <a:r>
              <a:rPr lang="fr" sz="1400"/>
              <a:t> of your application. Spring will detect and register them 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 sz="1400"/>
              <a:t>	</a:t>
            </a:r>
            <a:endParaRPr sz="1400"/>
          </a:p>
        </p:txBody>
      </p:sp>
      <p:sp>
        <p:nvSpPr>
          <p:cNvPr id="192" name="Google Shape;192;p31"/>
          <p:cNvSpPr txBox="1"/>
          <p:nvPr/>
        </p:nvSpPr>
        <p:spPr>
          <a:xfrm>
            <a:off x="1962150" y="1043175"/>
            <a:ext cx="5219700" cy="1445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BBB529"/>
                </a:solidFill>
                <a:highlight>
                  <a:srgbClr val="2B2B2B"/>
                </a:highlight>
              </a:rPr>
              <a:t>@SpringBootApplication</a:t>
            </a:r>
            <a:endParaRPr sz="12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BillingserviceApplication {</a:t>
            </a:r>
            <a:endParaRPr sz="12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200">
                <a:solidFill>
                  <a:srgbClr val="CC7832"/>
                </a:solidFill>
                <a:highlight>
                  <a:srgbClr val="2B2B2B"/>
                </a:highlight>
              </a:rPr>
              <a:t>public static void </a:t>
            </a:r>
            <a:r>
              <a:rPr lang="fr" sz="1200">
                <a:solidFill>
                  <a:srgbClr val="FFC66D"/>
                </a:solidFill>
                <a:highlight>
                  <a:srgbClr val="2B2B2B"/>
                </a:highlight>
              </a:rPr>
              <a:t>main</a:t>
            </a: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(String[] args) {</a:t>
            </a:r>
            <a:endParaRPr sz="12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       SpringApplication.</a:t>
            </a:r>
            <a:r>
              <a:rPr i="1" lang="fr" sz="1200">
                <a:solidFill>
                  <a:srgbClr val="A9B7C6"/>
                </a:solidFill>
                <a:highlight>
                  <a:srgbClr val="2B2B2B"/>
                </a:highlight>
              </a:rPr>
              <a:t>run</a:t>
            </a: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(BillingserviceApplication.</a:t>
            </a:r>
            <a:r>
              <a:rPr lang="fr" sz="1200">
                <a:solidFill>
                  <a:srgbClr val="CC7832"/>
                </a:solidFill>
                <a:highlight>
                  <a:srgbClr val="2B2B2B"/>
                </a:highlight>
              </a:rPr>
              <a:t>class, </a:t>
            </a: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args)</a:t>
            </a:r>
            <a:r>
              <a:rPr lang="fr" sz="12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2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2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stereotypes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556950" y="1098875"/>
            <a:ext cx="8030100" cy="30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Spring provides 4 stereotypes used to identified classes roles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Stereotypes are defined by annotations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Classes annotated with a stereotype are registered as beans in Spring container and are injectable</a:t>
            </a:r>
            <a:endParaRPr/>
          </a:p>
        </p:txBody>
      </p:sp>
      <p:sp>
        <p:nvSpPr>
          <p:cNvPr id="199" name="Google Shape;199;p32"/>
          <p:cNvSpPr/>
          <p:nvPr/>
        </p:nvSpPr>
        <p:spPr>
          <a:xfrm>
            <a:off x="3659286" y="3092730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@Component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1652938" y="4008302"/>
            <a:ext cx="18255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@Controller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3659284" y="4008227"/>
            <a:ext cx="18255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@Service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2" name="Google Shape;202;p32"/>
          <p:cNvCxnSpPr>
            <a:stCxn id="199" idx="2"/>
            <a:endCxn id="201" idx="0"/>
          </p:cNvCxnSpPr>
          <p:nvPr/>
        </p:nvCxnSpPr>
        <p:spPr>
          <a:xfrm flipH="1" rot="-5400000">
            <a:off x="4377186" y="3812880"/>
            <a:ext cx="3903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32"/>
          <p:cNvCxnSpPr>
            <a:stCxn id="200" idx="0"/>
            <a:endCxn id="199" idx="2"/>
          </p:cNvCxnSpPr>
          <p:nvPr/>
        </p:nvCxnSpPr>
        <p:spPr>
          <a:xfrm rot="-5400000">
            <a:off x="3373738" y="2809952"/>
            <a:ext cx="390300" cy="20064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32"/>
          <p:cNvSpPr/>
          <p:nvPr/>
        </p:nvSpPr>
        <p:spPr>
          <a:xfrm>
            <a:off x="5817897" y="4008302"/>
            <a:ext cx="18255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@Repository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5" name="Google Shape;205;p32"/>
          <p:cNvCxnSpPr>
            <a:stCxn id="204" idx="0"/>
            <a:endCxn id="199" idx="2"/>
          </p:cNvCxnSpPr>
          <p:nvPr/>
        </p:nvCxnSpPr>
        <p:spPr>
          <a:xfrm flipH="1" rot="5400000">
            <a:off x="5456247" y="2733902"/>
            <a:ext cx="390300" cy="2158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stereotypes</a:t>
            </a:r>
            <a:endParaRPr/>
          </a:p>
        </p:txBody>
      </p:sp>
      <p:sp>
        <p:nvSpPr>
          <p:cNvPr id="211" name="Google Shape;211;p33"/>
          <p:cNvSpPr txBox="1"/>
          <p:nvPr/>
        </p:nvSpPr>
        <p:spPr>
          <a:xfrm>
            <a:off x="2498400" y="3329650"/>
            <a:ext cx="4147200" cy="13029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@Controller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BillingController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BillingService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billingService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2498400" y="1490250"/>
            <a:ext cx="4147200" cy="15096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@Service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BillingService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stereotypes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556950" y="1403675"/>
            <a:ext cx="80301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Allows to split your application in 3 layers 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@Controller : presentation layer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@Service : business layer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@Repository : persistence layer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: Configure your app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536025" y="1198200"/>
            <a:ext cx="3679200" cy="3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As we saw, @Configuration on class declare this class as a configuration class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You can configure your beans in these configuration classes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@Bean : create a Spring Bean with the name of the method	</a:t>
            </a:r>
            <a:endParaRPr/>
          </a:p>
        </p:txBody>
      </p:sp>
      <p:sp>
        <p:nvSpPr>
          <p:cNvPr id="225" name="Google Shape;225;p35"/>
          <p:cNvSpPr txBox="1"/>
          <p:nvPr/>
        </p:nvSpPr>
        <p:spPr>
          <a:xfrm>
            <a:off x="4215225" y="1045800"/>
            <a:ext cx="4852800" cy="39195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@Configuration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Config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@Value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"${mongo.uri}"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@Bean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mongoClient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    MongoClientURI mongoClientURI =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 mongoClient =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MongoClient(mongoClientURI)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return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mongoClient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@Bean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FilterRegistrationBean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corsFilter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    CorsConfiguration config =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CorsConfiguration()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config.addAllowedOrigin(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"*"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FilterRegistrationBean bean =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FilterRegistrationBean(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CorsFilter(source))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return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bean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@Bean</a:t>
            </a:r>
            <a:endParaRPr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536025" y="1225375"/>
            <a:ext cx="8030100" cy="26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Annotated method produces a bean to be managed by the Spring container</a:t>
            </a:r>
            <a:br>
              <a:rPr lang="fr"/>
            </a:br>
            <a:br>
              <a:rPr lang="fr"/>
            </a:b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By default, bean’s name is the method’s name. Can be specified explicitly : </a:t>
            </a:r>
            <a:br>
              <a:rPr lang="fr"/>
            </a:br>
            <a:r>
              <a:rPr lang="fr"/>
              <a:t>	@bean(“myBean”)</a:t>
            </a:r>
            <a:br>
              <a:rPr lang="fr"/>
            </a:br>
            <a:r>
              <a:rPr lang="fr"/>
              <a:t>	@bean({“myBean”, “yourBean”})</a:t>
            </a:r>
            <a:br>
              <a:rPr lang="fr"/>
            </a:br>
            <a:endParaRPr/>
          </a:p>
        </p:txBody>
      </p:sp>
      <p:sp>
        <p:nvSpPr>
          <p:cNvPr id="232" name="Google Shape;232;p36"/>
          <p:cNvSpPr txBox="1"/>
          <p:nvPr/>
        </p:nvSpPr>
        <p:spPr>
          <a:xfrm>
            <a:off x="2488850" y="2035725"/>
            <a:ext cx="4440600" cy="731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</a:t>
            </a: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@Bean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mongoMockClient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return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Injection with Spring boot : </a:t>
            </a:r>
            <a:r>
              <a:rPr lang="fr"/>
              <a:t>@Value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556950" y="1081850"/>
            <a:ext cx="8030100" cy="9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Used for injecting values (not instances) into fields in Spring beans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Can be applied at the field or constructor/method parameter level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 txBox="1"/>
          <p:nvPr/>
        </p:nvSpPr>
        <p:spPr>
          <a:xfrm>
            <a:off x="3031350" y="1915125"/>
            <a:ext cx="2328300" cy="5349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@Value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"An awesome value"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3073925" y="3354400"/>
            <a:ext cx="2328300" cy="5349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@Value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"${mongo.uri}"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570000" y="2548625"/>
            <a:ext cx="80991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Used to inject values from configuration file (properties, yaml) into a field or parameter by using a placeholder ${...}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630175" y="4066100"/>
            <a:ext cx="35682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A default value can be provided</a:t>
            </a:r>
            <a:endParaRPr/>
          </a:p>
        </p:txBody>
      </p:sp>
      <p:sp>
        <p:nvSpPr>
          <p:cNvPr id="243" name="Google Shape;243;p37"/>
          <p:cNvSpPr txBox="1"/>
          <p:nvPr/>
        </p:nvSpPr>
        <p:spPr>
          <a:xfrm>
            <a:off x="4387775" y="4131650"/>
            <a:ext cx="3040500" cy="5349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@Value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"${mongo.uri:a_default value}"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Injection with Spring boot : @Autowired</a:t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556950" y="1047450"/>
            <a:ext cx="8030100" cy="20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Injection with Spring Boot is an association of ComponentScan to find and register beans and @Autowired to inject these beans at the right place</a:t>
            </a:r>
            <a:br>
              <a:rPr lang="fr"/>
            </a:br>
            <a:br>
              <a:rPr lang="fr"/>
            </a:br>
            <a:r>
              <a:rPr lang="fr"/>
              <a:t>@Autowired can used on fields, setters and </a:t>
            </a:r>
            <a:r>
              <a:rPr lang="fr"/>
              <a:t>constructors</a:t>
            </a:r>
            <a:br>
              <a:rPr lang="fr"/>
            </a:br>
            <a:br>
              <a:rPr lang="fr"/>
            </a:br>
            <a:r>
              <a:rPr lang="fr"/>
              <a:t>A dependency can be declared optional with @Autowired(required=false)</a:t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556950" y="3096750"/>
            <a:ext cx="1704000" cy="1004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BillingService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9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9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chemeClr val="lt1"/>
              </a:solidFill>
              <a:highlight>
                <a:srgbClr val="2B2B2B"/>
              </a:highlight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2423350" y="3096750"/>
            <a:ext cx="3126600" cy="13824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BillingService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MongoClient </a:t>
            </a:r>
            <a:r>
              <a:rPr lang="fr" sz="9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9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void </a:t>
            </a:r>
            <a:r>
              <a:rPr lang="fr" sz="900">
                <a:solidFill>
                  <a:srgbClr val="FFC66D"/>
                </a:solidFill>
                <a:highlight>
                  <a:srgbClr val="2B2B2B"/>
                </a:highlight>
              </a:rPr>
              <a:t>setMongoClient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(MongoClient mongoClient)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this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.</a:t>
            </a:r>
            <a:r>
              <a:rPr lang="fr" sz="900">
                <a:solidFill>
                  <a:srgbClr val="9876AA"/>
                </a:solidFill>
                <a:highlight>
                  <a:srgbClr val="2B2B2B"/>
                </a:highlight>
              </a:rPr>
              <a:t>mongoClient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= mongoClient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5712350" y="3096750"/>
            <a:ext cx="2771400" cy="13824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BillingService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MongoClient </a:t>
            </a:r>
            <a:r>
              <a:rPr lang="fr" sz="9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9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900">
                <a:solidFill>
                  <a:srgbClr val="FFC66D"/>
                </a:solidFill>
                <a:highlight>
                  <a:srgbClr val="2B2B2B"/>
                </a:highlight>
              </a:rPr>
              <a:t>BillingService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(MongoClient mongoClient) {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       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this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.</a:t>
            </a:r>
            <a:r>
              <a:rPr lang="fr" sz="900">
                <a:solidFill>
                  <a:srgbClr val="9876AA"/>
                </a:solidFill>
                <a:highlight>
                  <a:srgbClr val="2B2B2B"/>
                </a:highlight>
              </a:rPr>
              <a:t>mongoClient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= mongoClient</a:t>
            </a: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466925" y="456075"/>
            <a:ext cx="8404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Injection with Spring boot : bean resolution</a:t>
            </a:r>
            <a:endParaRPr/>
          </a:p>
        </p:txBody>
      </p:sp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536025" y="1084500"/>
            <a:ext cx="8030100" cy="30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By default beans are resolved by type, so in our exemple Spring must find a bean of type MongoClient to inject it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/>
              <a:t>When several beans of the same type are available, you have to provide additional information with @Qualifier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9"/>
          <p:cNvSpPr txBox="1"/>
          <p:nvPr/>
        </p:nvSpPr>
        <p:spPr>
          <a:xfrm>
            <a:off x="616500" y="2965150"/>
            <a:ext cx="4087500" cy="770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</a:t>
            </a: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@Bean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mongoCloudClient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return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5600900" y="2965150"/>
            <a:ext cx="2906700" cy="16476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@Service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CustomerService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@Qualifier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"mongoCloudClient"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616500" y="3842250"/>
            <a:ext cx="4087500" cy="770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@Bean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mongoTestClient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return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mongoTestUri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466925" y="456075"/>
            <a:ext cx="8496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Injection with Spring boot : bean resolution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556950" y="1077575"/>
            <a:ext cx="8030100" cy="1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fr" sz="1400"/>
              <a:t>I</a:t>
            </a:r>
            <a:r>
              <a:rPr lang="fr" sz="1400"/>
              <a:t>f it can’t resolve by type or qualifier, Spring will try to resolve by name</a:t>
            </a:r>
            <a:br>
              <a:rPr lang="fr" sz="1400"/>
            </a:br>
            <a:br>
              <a:rPr lang="fr" sz="1400"/>
            </a:br>
            <a:r>
              <a:rPr lang="fr" sz="1400"/>
              <a:t>If a bean with a name similar to the field annotated with @Autowired is found, Spring will inject this bean </a:t>
            </a:r>
            <a:br>
              <a:rPr lang="fr" sz="1400"/>
            </a:br>
            <a:br>
              <a:rPr lang="fr" sz="1400"/>
            </a:br>
            <a:r>
              <a:rPr lang="fr" sz="1400"/>
              <a:t>It’s a kind of implicit injection</a:t>
            </a:r>
            <a:endParaRPr sz="1400"/>
          </a:p>
        </p:txBody>
      </p:sp>
      <p:sp>
        <p:nvSpPr>
          <p:cNvPr id="268" name="Google Shape;268;p40"/>
          <p:cNvSpPr txBox="1"/>
          <p:nvPr/>
        </p:nvSpPr>
        <p:spPr>
          <a:xfrm>
            <a:off x="556950" y="2676350"/>
            <a:ext cx="4032900" cy="8235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@Bean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mongoClient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return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mongoUri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5325900" y="2913450"/>
            <a:ext cx="2891700" cy="13689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@Service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CustomerService 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mongoClient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556950" y="3629650"/>
            <a:ext cx="4032900" cy="775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@Bean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 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mongoTestClient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() {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 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return 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MongoClient(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new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MongoClientURI(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mongoTestUri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Spring Boot : REST API</a:t>
            </a:r>
            <a:endParaRPr/>
          </a:p>
        </p:txBody>
      </p:sp>
      <p:sp>
        <p:nvSpPr>
          <p:cNvPr id="276" name="Google Shape;276;p41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Presentation layer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RESTful API</a:t>
            </a:r>
            <a:endParaRPr/>
          </a:p>
        </p:txBody>
      </p:sp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556950" y="2195300"/>
            <a:ext cx="8030100" cy="24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Springs provide annotations to create a RESTful API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presentation layer is where REST stuff is implemented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Controllers will be the classes responsible of communicating with clients following REST conventions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2837250" y="1149250"/>
            <a:ext cx="3469500" cy="9132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&lt;groupId&gt;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org.springframework.boot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&lt;/groupId&gt;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  &lt;artifactId&gt;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spring-boot-starter-web</a:t>
            </a: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&lt;/artifactId&gt;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E8BF6A"/>
                </a:solidFill>
                <a:highlight>
                  <a:srgbClr val="2B2B2B"/>
                </a:highlight>
              </a:rPr>
              <a:t>&lt;/dependency&gt;</a:t>
            </a:r>
            <a:endParaRPr sz="1100">
              <a:solidFill>
                <a:srgbClr val="E8BF6A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@RestController &amp; @ResponseBody</a:t>
            </a:r>
            <a:endParaRPr/>
          </a:p>
        </p:txBody>
      </p:sp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556950" y="1327475"/>
            <a:ext cx="8030100" cy="32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Controllers are the main level of API definition 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fr">
                <a:latin typeface="Raleway"/>
                <a:ea typeface="Raleway"/>
                <a:cs typeface="Raleway"/>
                <a:sym typeface="Raleway"/>
              </a:rPr>
              <a:t>@RestController</a:t>
            </a:r>
            <a:r>
              <a:rPr lang="fr"/>
              <a:t> is a convenient annotation for @Controller and @ResponseBody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@ResponseBody</a:t>
            </a:r>
            <a:r>
              <a:rPr lang="fr"/>
              <a:t> indicate to Spring that return object of the method should be serialized (XML or JSON) and send in body of the response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>
                <a:solidFill>
                  <a:schemeClr val="dk2"/>
                </a:solidFill>
              </a:rPr>
              <a:t>All methods of the controller annotated with </a:t>
            </a:r>
            <a:r>
              <a:rPr b="1" lang="fr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@RequestMapping</a:t>
            </a:r>
            <a:r>
              <a:rPr lang="fr">
                <a:solidFill>
                  <a:schemeClr val="dk2"/>
                </a:solidFill>
              </a:rPr>
              <a:t> will be automatically annotated with @ResponseBody</a:t>
            </a:r>
            <a:br>
              <a:rPr lang="fr">
                <a:solidFill>
                  <a:schemeClr val="dk2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@RequestMapping</a:t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556950" y="1084000"/>
            <a:ext cx="8030100" cy="17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Indicate a mapping between an HTTP request and a method based on an URI and an HTTP method </a:t>
            </a:r>
            <a:br>
              <a:rPr lang="fr"/>
            </a:br>
            <a:r>
              <a:rPr lang="f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Specific annotations for HTTP methods : @GetMapping, @PostMapping, @PutMapping, @DeleteMapping, @PatchMapping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@PathVariable and a placeholder in URI to bound a path element in a variable </a:t>
            </a:r>
            <a:endParaRPr/>
          </a:p>
        </p:txBody>
      </p:sp>
      <p:sp>
        <p:nvSpPr>
          <p:cNvPr id="296" name="Google Shape;296;p44"/>
          <p:cNvSpPr txBox="1"/>
          <p:nvPr/>
        </p:nvSpPr>
        <p:spPr>
          <a:xfrm>
            <a:off x="1511075" y="3606550"/>
            <a:ext cx="6010800" cy="10575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@GetMapping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"/resourceGroup/{resourceGroup}"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ResponseEntity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getResourceGroupTotalCost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@PathVariable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resourceGroup)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CostResult result =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billingService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.getResourceGroupTotalCost(resourceGroup)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return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ResponseEntity.</a:t>
            </a:r>
            <a:r>
              <a:rPr i="1" lang="fr" sz="1100">
                <a:solidFill>
                  <a:srgbClr val="A9B7C6"/>
                </a:solidFill>
                <a:highlight>
                  <a:srgbClr val="2B2B2B"/>
                </a:highlight>
              </a:rPr>
              <a:t>ok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(result)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@RequestMapping</a:t>
            </a:r>
            <a:endParaRPr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556950" y="1084000"/>
            <a:ext cx="8030100" cy="17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It’s also possible to bound URL parameters to method parameters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 method can be mapped on multiple URI but an URI can’t be mapped on multiple methods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Can be set at class level to define a common URI prefix for all methods</a:t>
            </a:r>
            <a:endParaRPr/>
          </a:p>
        </p:txBody>
      </p:sp>
      <p:sp>
        <p:nvSpPr>
          <p:cNvPr id="303" name="Google Shape;303;p45"/>
          <p:cNvSpPr txBox="1"/>
          <p:nvPr/>
        </p:nvSpPr>
        <p:spPr>
          <a:xfrm>
            <a:off x="1608450" y="1559550"/>
            <a:ext cx="5927100" cy="12555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808080"/>
                </a:solidFill>
                <a:highlight>
                  <a:srgbClr val="2B2B2B"/>
                </a:highlight>
              </a:rPr>
              <a:t>// localhost/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resourceGroup</a:t>
            </a:r>
            <a:r>
              <a:rPr lang="fr" sz="1000">
                <a:solidFill>
                  <a:srgbClr val="808080"/>
                </a:solidFill>
                <a:highlight>
                  <a:srgbClr val="2B2B2B"/>
                </a:highlight>
              </a:rPr>
              <a:t>?rg=xxxx</a:t>
            </a:r>
            <a:endParaRPr sz="1000">
              <a:solidFill>
                <a:srgbClr val="808080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@GetMapping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000">
                <a:solidFill>
                  <a:srgbClr val="6A8759"/>
                </a:solidFill>
                <a:highlight>
                  <a:srgbClr val="2B2B2B"/>
                </a:highlight>
              </a:rPr>
              <a:t>"/resourceGroup"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ResponseEntity </a:t>
            </a:r>
            <a:r>
              <a:rPr lang="fr" sz="1000">
                <a:solidFill>
                  <a:srgbClr val="FFC66D"/>
                </a:solidFill>
                <a:highlight>
                  <a:srgbClr val="2B2B2B"/>
                </a:highlight>
              </a:rPr>
              <a:t>getResourceGroupTotalCost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000">
                <a:solidFill>
                  <a:srgbClr val="BBB529"/>
                </a:solidFill>
                <a:highlight>
                  <a:srgbClr val="2B2B2B"/>
                </a:highlight>
              </a:rPr>
              <a:t>@RequestParam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String rg) {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   CostResult result = </a:t>
            </a:r>
            <a:r>
              <a:rPr lang="fr" sz="1000">
                <a:solidFill>
                  <a:srgbClr val="9876AA"/>
                </a:solidFill>
                <a:highlight>
                  <a:srgbClr val="2B2B2B"/>
                </a:highlight>
              </a:rPr>
              <a:t>billingService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.getResourceGroupTotalCost(rg)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   return 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ResponseEntity.</a:t>
            </a:r>
            <a:r>
              <a:rPr i="1" lang="fr" sz="1000">
                <a:solidFill>
                  <a:srgbClr val="A9B7C6"/>
                </a:solidFill>
                <a:highlight>
                  <a:srgbClr val="2B2B2B"/>
                </a:highlight>
              </a:rPr>
              <a:t>ok</a:t>
            </a: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(result)</a:t>
            </a:r>
            <a:r>
              <a:rPr lang="fr" sz="10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0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2949125" y="4161975"/>
            <a:ext cx="3134700" cy="8574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@RestController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@RequestMapping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"/api/billing"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BillingController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@RequestBody</a:t>
            </a:r>
            <a:endParaRPr/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556950" y="1327475"/>
            <a:ext cx="8030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Spring will </a:t>
            </a:r>
            <a:r>
              <a:rPr lang="fr"/>
              <a:t>automatically</a:t>
            </a:r>
            <a:r>
              <a:rPr lang="fr"/>
              <a:t> deserialize a request’s body to a Java Object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Mapping is done by HttpMessageConverter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You can create and register your own HttpMessageConverter for higher control on mapping</a:t>
            </a:r>
            <a:endParaRPr/>
          </a:p>
        </p:txBody>
      </p:sp>
      <p:sp>
        <p:nvSpPr>
          <p:cNvPr id="311" name="Google Shape;311;p46"/>
          <p:cNvSpPr txBox="1"/>
          <p:nvPr/>
        </p:nvSpPr>
        <p:spPr>
          <a:xfrm>
            <a:off x="2176100" y="3461975"/>
            <a:ext cx="5097900" cy="936000"/>
          </a:xfrm>
          <a:prstGeom prst="rect">
            <a:avLst/>
          </a:prstGeom>
          <a:solidFill>
            <a:srgbClr val="34302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@PostMapping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"/user"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ResponseEntity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postUser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@RequestBody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User user)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	[...]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466925" y="456075"/>
            <a:ext cx="8099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ResponseEntity</a:t>
            </a:r>
            <a:endParaRPr/>
          </a:p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556950" y="1258550"/>
            <a:ext cx="8030100" cy="25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ResponseEntity represents the whole HTTP response: status code, headers, and body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Provide a full control on the response sent to the client unlike @ResponseBody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Can be useful to send a different status code according to some conditions or adapt it to your API specification</a:t>
            </a:r>
            <a:br>
              <a:rPr lang="f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@RestController can be associated with ResponseEntity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/>
        </p:nvSpPr>
        <p:spPr>
          <a:xfrm>
            <a:off x="318750" y="1255425"/>
            <a:ext cx="8506500" cy="30282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@RestController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@RequestMapping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"/api/billing"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class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BillingController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private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BillingService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billingService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@Autowired</a:t>
            </a:r>
            <a:endParaRPr sz="1100">
              <a:solidFill>
                <a:srgbClr val="BBB529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UsageDetailsComputeService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usageDetailsComputeService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@GetMapping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D0D0FF"/>
                </a:solidFill>
                <a:highlight>
                  <a:srgbClr val="2B2B2B"/>
                </a:highlight>
              </a:rPr>
              <a:t>value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= </a:t>
            </a:r>
            <a:r>
              <a:rPr lang="fr" sz="1100">
                <a:solidFill>
                  <a:srgbClr val="6A8759"/>
                </a:solidFill>
                <a:highlight>
                  <a:srgbClr val="2B2B2B"/>
                </a:highlight>
              </a:rPr>
              <a:t>"/resourceGroup/{resourceGroup}/billingPeriod/{billingPeriod}"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)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public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ResponseEntity </a:t>
            </a:r>
            <a:r>
              <a:rPr lang="fr" sz="1100">
                <a:solidFill>
                  <a:srgbClr val="FFC66D"/>
                </a:solidFill>
                <a:highlight>
                  <a:srgbClr val="2B2B2B"/>
                </a:highlight>
              </a:rPr>
              <a:t>getResourceGroupCost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@PathVariable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resourceGroup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1100">
                <a:solidFill>
                  <a:srgbClr val="BBB529"/>
                </a:solidFill>
                <a:highlight>
                  <a:srgbClr val="2B2B2B"/>
                </a:highlight>
              </a:rPr>
              <a:t>@PathVariable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String billingPeriod) {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       CostResult result = </a:t>
            </a:r>
            <a:r>
              <a:rPr lang="fr" sz="1100">
                <a:solidFill>
                  <a:srgbClr val="9876AA"/>
                </a:solidFill>
                <a:highlight>
                  <a:srgbClr val="2B2B2B"/>
                </a:highlight>
              </a:rPr>
              <a:t>billingService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.getResourceGroupCost(resourceGroup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,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billingPeriod)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    return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ResponseEntity.</a:t>
            </a:r>
            <a:r>
              <a:rPr i="1" lang="fr" sz="1100">
                <a:solidFill>
                  <a:srgbClr val="A9B7C6"/>
                </a:solidFill>
                <a:highlight>
                  <a:srgbClr val="2B2B2B"/>
                </a:highlight>
              </a:rPr>
              <a:t>ok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(result)</a:t>
            </a: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CC7832"/>
                </a:solidFill>
                <a:highlight>
                  <a:srgbClr val="2B2B2B"/>
                </a:highlight>
              </a:rPr>
              <a:t>   </a:t>
            </a: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A9B7C6"/>
                </a:solidFill>
                <a:highlight>
                  <a:srgbClr val="2B2B2B"/>
                </a:highlight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